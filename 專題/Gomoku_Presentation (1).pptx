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_rels/theme1.xml.rels" ContentType="application/vnd.openxmlformats-package.relationships+xml"/>
  <Override PartName="/ppt/theme/_rels/theme2.xml.rels" ContentType="application/vnd.openxmlformats-package.relationships+xml"/>
  <Override PartName="/ppt/media/image1.jpeg" ContentType="image/jpeg"/>
  <Override PartName="/ppt/media/image3.png" ContentType="image/png"/>
  <Override PartName="/ppt/media/image2.jpeg" ContentType="image/jpeg"/>
  <Override PartName="/ppt/media/image8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918545-04D8-4795-A75E-E9ABD3A15B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全景圖片 (含輔助字幕)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8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20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76840" y="4815360"/>
            <a:ext cx="67982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026360" y="1032840"/>
            <a:ext cx="7091280" cy="3360960"/>
          </a:xfrm>
          <a:prstGeom prst="rect">
            <a:avLst/>
          </a:prstGeom>
          <a:noFill/>
          <a:ln w="57240">
            <a:solidFill>
              <a:schemeClr val="dk1">
                <a:lumMod val="50000"/>
                <a:lumOff val="50000"/>
              </a:schemeClr>
            </a:solidFill>
            <a:round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6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按一下圖示以新增圖片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1176840" y="5382000"/>
            <a:ext cx="6798240" cy="49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zh-TW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4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5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6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9A00E9-A76D-45A5-86E0-EE7FEE0731C8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標題與輔助字幕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29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31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2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176840" y="906840"/>
            <a:ext cx="6798240" cy="309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32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176840" y="4275720"/>
            <a:ext cx="679824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7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8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9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A4259F-0DE0-42D3-BA0F-5967BB7CA38A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8" name="Straight Connector 14"/>
          <p:cNvCxnSpPr/>
          <p:nvPr/>
        </p:nvCxnSpPr>
        <p:spPr>
          <a:xfrm>
            <a:off x="1278360" y="4140000"/>
            <a:ext cx="66067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引述 (含輔助字幕)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40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1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42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3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334160" y="982080"/>
            <a:ext cx="6399720" cy="237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600200" y="3352680"/>
            <a:ext cx="5892480" cy="65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zh-TW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176840" y="4343400"/>
            <a:ext cx="6798240" cy="153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0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11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12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9147A1-CFC9-4F01-A27C-5EFA2F071E3F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TextBox 13"/>
          <p:cNvSpPr/>
          <p:nvPr/>
        </p:nvSpPr>
        <p:spPr>
          <a:xfrm>
            <a:off x="849960" y="905400"/>
            <a:ext cx="4568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72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“</a:t>
            </a:r>
            <a:endParaRPr b="0" lang="en-US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Box 14"/>
          <p:cNvSpPr/>
          <p:nvPr/>
        </p:nvSpPr>
        <p:spPr>
          <a:xfrm>
            <a:off x="7633440" y="2827800"/>
            <a:ext cx="4568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72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”</a:t>
            </a:r>
            <a:endParaRPr b="0" lang="en-US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" name="Straight Connector 18"/>
          <p:cNvCxnSpPr/>
          <p:nvPr/>
        </p:nvCxnSpPr>
        <p:spPr>
          <a:xfrm>
            <a:off x="1278360" y="414000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名片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54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56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7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76840" y="3308760"/>
            <a:ext cx="679824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zh-TW" sz="32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176840" y="4777560"/>
            <a:ext cx="679824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13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ftr" idx="14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sldNum" idx="15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3936A3-CE95-497B-924B-DC8FC104B6F5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引述名片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64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5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66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7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409400" y="982080"/>
            <a:ext cx="6324840" cy="224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1176840" y="3639240"/>
            <a:ext cx="6798240" cy="88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1176840" y="4529520"/>
            <a:ext cx="6798240" cy="134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zh-TW" sz="16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16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17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18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C5AC72-F337-4AD5-A4F6-B0CE96354E3B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TextBox 11"/>
          <p:cNvSpPr/>
          <p:nvPr/>
        </p:nvSpPr>
        <p:spPr>
          <a:xfrm>
            <a:off x="878040" y="896760"/>
            <a:ext cx="4568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“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2"/>
          <p:cNvSpPr/>
          <p:nvPr/>
        </p:nvSpPr>
        <p:spPr>
          <a:xfrm>
            <a:off x="7649640" y="2607840"/>
            <a:ext cx="4568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”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Straight Connector 25"/>
          <p:cNvCxnSpPr/>
          <p:nvPr/>
        </p:nvCxnSpPr>
        <p:spPr>
          <a:xfrm>
            <a:off x="1278360" y="342900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是非題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78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9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80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1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176840" y="982080"/>
            <a:ext cx="6798240" cy="229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32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1176840" y="3566160"/>
            <a:ext cx="6798240" cy="90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1176840" y="4470480"/>
            <a:ext cx="6798240" cy="140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zh-TW" sz="16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19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20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1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7AEDEE-059C-4805-969D-4B8CCD001163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88" name="Straight Connector 14"/>
          <p:cNvCxnSpPr/>
          <p:nvPr/>
        </p:nvCxnSpPr>
        <p:spPr>
          <a:xfrm>
            <a:off x="1278360" y="3429000"/>
            <a:ext cx="66067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標題及直排文字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90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1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92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3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1176840" y="2490120"/>
            <a:ext cx="6798240" cy="33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22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ftr" idx="23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sldNum" idx="24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FA5AA0-61ED-47B3-AC5B-B3B54273DCB4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99" name="Straight Connector 13"/>
          <p:cNvCxnSpPr/>
          <p:nvPr/>
        </p:nvCxnSpPr>
        <p:spPr>
          <a:xfrm>
            <a:off x="1278360" y="2354400"/>
            <a:ext cx="66067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直排標題及文字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01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2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03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4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356520" y="906840"/>
            <a:ext cx="1618560" cy="496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1176840" y="906840"/>
            <a:ext cx="4915080" cy="496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25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ftr" idx="26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27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A31844-8104-42A1-91E2-119CAE454DB9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10" name="Straight Connector 13"/>
          <p:cNvCxnSpPr/>
          <p:nvPr/>
        </p:nvCxnSpPr>
        <p:spPr>
          <a:xfrm>
            <a:off x="6245280" y="906840"/>
            <a:ext cx="360" cy="496908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標題及內容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23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3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24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5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cxnSp>
        <p:nvCxnSpPr>
          <p:cNvPr id="126" name="Straight Connector 6"/>
          <p:cNvCxnSpPr/>
          <p:nvPr/>
        </p:nvCxnSpPr>
        <p:spPr>
          <a:xfrm>
            <a:off x="1278360" y="235620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31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ftr" idx="32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sldNum" idx="33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64654A-A20F-4EFE-A078-EE652F9D9DF6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標題及內容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12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3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14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5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cxnSp>
        <p:nvCxnSpPr>
          <p:cNvPr id="116" name="Straight Connector 6"/>
          <p:cNvCxnSpPr/>
          <p:nvPr/>
        </p:nvCxnSpPr>
        <p:spPr>
          <a:xfrm>
            <a:off x="1278360" y="235620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dt" idx="28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ftr" idx="29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sldNum" idx="30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5753CA-5FE8-483B-85D5-6A6742DDB9B8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章節標題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33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4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35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6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278360" y="1641240"/>
            <a:ext cx="6595200" cy="182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1278360" y="3735000"/>
            <a:ext cx="6595200" cy="108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34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ftr" idx="35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sldNum" idx="36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B1C2D1-1BFB-48B9-A7FF-E58E3CF84C37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42" name="Straight Connector 30"/>
          <p:cNvCxnSpPr/>
          <p:nvPr/>
        </p:nvCxnSpPr>
        <p:spPr>
          <a:xfrm>
            <a:off x="1278360" y="359928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兩個內容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44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5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46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7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cxnSp>
        <p:nvCxnSpPr>
          <p:cNvPr id="148" name="Straight Connector 7"/>
          <p:cNvCxnSpPr/>
          <p:nvPr/>
        </p:nvCxnSpPr>
        <p:spPr>
          <a:xfrm>
            <a:off x="1278360" y="235620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1176840" y="2487240"/>
            <a:ext cx="3337200" cy="344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645080" y="2487240"/>
            <a:ext cx="3337200" cy="344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dt" idx="37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ftr" idx="38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 type="sldNum" idx="39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36E827-8F1C-411C-86FF-87347C66354B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較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56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7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58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9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1176840" y="2658600"/>
            <a:ext cx="33372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zh-TW" sz="2400" strike="noStrike" u="none">
                <a:solidFill>
                  <a:schemeClr val="accent1"/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1176840" y="3243240"/>
            <a:ext cx="3337200" cy="270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body"/>
          </p:nvPr>
        </p:nvSpPr>
        <p:spPr>
          <a:xfrm>
            <a:off x="4641840" y="2658600"/>
            <a:ext cx="33372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zh-TW" sz="2400" strike="noStrike" u="none">
                <a:solidFill>
                  <a:schemeClr val="accent1"/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body"/>
          </p:nvPr>
        </p:nvSpPr>
        <p:spPr>
          <a:xfrm>
            <a:off x="4641840" y="3243240"/>
            <a:ext cx="3337200" cy="270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 type="dt" idx="40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 type="ftr" idx="41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8"/>
          <p:cNvSpPr>
            <a:spLocks noGrp="1"/>
          </p:cNvSpPr>
          <p:nvPr>
            <p:ph type="sldNum" idx="42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6069C6-BFB6-4965-A398-F414709C8AFA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68" name="Straight Connector 40"/>
          <p:cNvCxnSpPr/>
          <p:nvPr/>
        </p:nvCxnSpPr>
        <p:spPr>
          <a:xfrm>
            <a:off x="1278360" y="235440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只有標題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70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1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72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3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dt" idx="43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ftr" idx="44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sldNum" idx="45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968423-580D-4DD6-954C-BC943C171DFD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78" name="Straight Connector 13"/>
          <p:cNvCxnSpPr/>
          <p:nvPr/>
        </p:nvCxnSpPr>
        <p:spPr>
          <a:xfrm>
            <a:off x="1278360" y="235440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80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1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82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3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84" name="PlaceHolder 1"/>
          <p:cNvSpPr>
            <a:spLocks noGrp="1"/>
          </p:cNvSpPr>
          <p:nvPr>
            <p:ph type="dt" idx="46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ftr" idx="47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8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6BFB85-2D40-45C4-92BC-137C892B5D73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含輔助字幕的內容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88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9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90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1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176840" y="1388520"/>
            <a:ext cx="253656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4120200" y="982080"/>
            <a:ext cx="3855240" cy="489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1176840" y="3031200"/>
            <a:ext cx="253656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zh-TW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dt" idx="49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ftr" idx="50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6"/>
          <p:cNvSpPr>
            <a:spLocks noGrp="1"/>
          </p:cNvSpPr>
          <p:nvPr>
            <p:ph type="sldNum" idx="51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E77536-BCEA-487A-BCB3-4BE277AF20B6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98" name="Straight Connector 15"/>
          <p:cNvCxnSpPr/>
          <p:nvPr/>
        </p:nvCxnSpPr>
        <p:spPr>
          <a:xfrm>
            <a:off x="1278360" y="2912400"/>
            <a:ext cx="233388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含輔助字幕的圖片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200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1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202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3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176840" y="1883880"/>
            <a:ext cx="36316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5182920" y="1032840"/>
            <a:ext cx="2928960" cy="4791600"/>
          </a:xfrm>
          <a:prstGeom prst="rect">
            <a:avLst/>
          </a:prstGeom>
          <a:noFill/>
          <a:ln w="57240">
            <a:solidFill>
              <a:schemeClr val="dk1">
                <a:lumMod val="50000"/>
                <a:lumOff val="50000"/>
              </a:schemeClr>
            </a:solidFill>
            <a:round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6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按一下圖示以新增圖片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1176840" y="3255480"/>
            <a:ext cx="3631680" cy="182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zh-TW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dt" idx="52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 type="ftr" idx="53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6"/>
          <p:cNvSpPr>
            <a:spLocks noGrp="1"/>
          </p:cNvSpPr>
          <p:nvPr>
            <p:ph type="sldNum" idx="54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15FC78-8D3E-4B36-A257-6A589429AE03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&lt;編號&gt;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6.png"/><Relationship Id="rId9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3" name="Picture 9" descr="HDRibbonContent-UniformTrim.png"/>
            <p:cNvPicPr/>
            <p:nvPr/>
          </p:nvPicPr>
          <p:blipFill>
            <a:blip r:embed="rId4"/>
            <a:srcRect l="0" t="0" r="14236" b="0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Picture 10" descr="HDRibbonContent-UniformTrim.png"/>
            <p:cNvPicPr/>
            <p:nvPr/>
          </p:nvPicPr>
          <p:blipFill>
            <a:blip r:embed="rId5"/>
            <a:srcRect l="0" t="0" r="14236" b="0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" name="Group 17"/>
          <p:cNvGrpSpPr/>
          <p:nvPr/>
        </p:nvGrpSpPr>
        <p:grpSpPr>
          <a:xfrm>
            <a:off x="0" y="0"/>
            <a:ext cx="9144360" cy="6857640"/>
            <a:chOff x="0" y="0"/>
            <a:chExt cx="9144360" cy="6857640"/>
          </a:xfrm>
        </p:grpSpPr>
        <p:pic>
          <p:nvPicPr>
            <p:cNvPr id="6" name="Picture 7" descr="SD-PanelTitle-R1.png"/>
            <p:cNvPicPr/>
            <p:nvPr/>
          </p:nvPicPr>
          <p:blipFill>
            <a:blip r:embed="rId6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" name="Rectangle 10"/>
            <p:cNvSpPr/>
            <p:nvPr/>
          </p:nvSpPr>
          <p:spPr>
            <a:xfrm>
              <a:off x="1515600" y="1520280"/>
              <a:ext cx="6112440" cy="38181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" name="Picture 11" descr="HDRibbonTitle-UniformTrim.png"/>
            <p:cNvPicPr/>
            <p:nvPr/>
          </p:nvPicPr>
          <p:blipFill>
            <a:blip r:embed="rId7"/>
            <a:srcRect l="0" t="0" r="47955" b="0"/>
            <a:stretch/>
          </p:blipFill>
          <p:spPr>
            <a:xfrm>
              <a:off x="0" y="3128400"/>
              <a:ext cx="1663920" cy="612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" name="Picture 12" descr="HDRibbonTitle-UniformTrim.png"/>
            <p:cNvPicPr/>
            <p:nvPr/>
          </p:nvPicPr>
          <p:blipFill>
            <a:blip r:embed="rId8"/>
            <a:srcRect l="0" t="0" r="47955" b="0"/>
            <a:stretch/>
          </p:blipFill>
          <p:spPr>
            <a:xfrm>
              <a:off x="7480440" y="3128400"/>
              <a:ext cx="1663920" cy="612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922040" y="1811880"/>
            <a:ext cx="5308560" cy="1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1"/>
          </p:nvPr>
        </p:nvSpPr>
        <p:spPr>
          <a:xfrm>
            <a:off x="6065280" y="5054760"/>
            <a:ext cx="672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2"/>
          </p:nvPr>
        </p:nvSpPr>
        <p:spPr>
          <a:xfrm>
            <a:off x="1922040" y="5054760"/>
            <a:ext cx="406440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3"/>
          </p:nvPr>
        </p:nvSpPr>
        <p:spPr>
          <a:xfrm>
            <a:off x="6817320" y="5054760"/>
            <a:ext cx="4132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EDD777-5BEB-488B-B062-81C0528B461D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13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4" name="Straight Connector 14"/>
          <p:cNvCxnSpPr/>
          <p:nvPr/>
        </p:nvCxnSpPr>
        <p:spPr>
          <a:xfrm>
            <a:off x="2019600" y="3471120"/>
            <a:ext cx="511344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9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github.com/kenyu430/Gomoku/blob/main/Gomoku_Presentation.pptx" TargetMode="External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物件導向程式設計專題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五子棋 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組別：第 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_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7__ 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組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成員：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3B_B2225579_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余士凱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2A_B3230550_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汪裕軒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3A_B3406097_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吳承翰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遊戲介紹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Garamond"/>
              </a:rPr>
              <a:t> 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遊戲介紹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Garamond"/>
              </a:rPr>
              <a:t> 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遊戲介紹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3. 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勝負判定與獲勝條件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本程式核心演算法採用「落子點軸向掃描法」。當玩家落子後，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GameManager 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會以該點為中心，即時掃描四條軸線：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軸線方向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：水平方向、垂直方向、右斜方向、左斜方向。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獲勝條件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：任一方向出現連續 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5 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顆（或以上）相同符號，系統立即宣告勝負。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</a:pP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遊戲介紹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4. 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和局判定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若棋盤 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225 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個位置皆已填滿且無人達成連五子，系統將判定為和局並結束遊戲。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程式介紹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1. 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遊戲核心邏輯 </a:t>
            </a: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(OOP 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權責分離</a:t>
            </a: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本專案嚴格落實封裝原則，將功能模組化為兩種類別：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Board 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類別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：負責 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數據層 </a:t>
            </a: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(Data Layer)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。封裝二維陣列，維護棋格狀態並負責畫面渲染。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GameManager 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類別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：負責 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邏輯層 </a:t>
            </a: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(Control Layer)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。控制回合切換、處理玩家輸入、執行勝負判定演算法。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</a:t>
            </a: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介紹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2. UML 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類別圖概念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Board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- grid[15][15]: char (</a:t>
            </a: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封裝成員變數</a:t>
            </a: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+ display(): void (</a:t>
            </a: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顯示棋盤</a:t>
            </a: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+ update(r, c, p): bool (</a:t>
            </a: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更新落子狀態</a:t>
            </a: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GameManager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- board: Board (</a:t>
            </a: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類別組合關係</a:t>
            </a: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+ run(): void (</a:t>
            </a: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啟動遊戲主循環</a:t>
            </a: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- checkWin(r, c): bool (</a:t>
            </a:r>
            <a:r>
              <a:rPr b="0" lang="zh-TW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私有判定演算法</a:t>
            </a: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24" name="圖片 4" descr=""/>
          <p:cNvPicPr/>
          <p:nvPr/>
        </p:nvPicPr>
        <p:blipFill>
          <a:blip r:embed="rId1"/>
          <a:stretch/>
        </p:blipFill>
        <p:spPr>
          <a:xfrm>
            <a:off x="6240240" y="2490120"/>
            <a:ext cx="1584000" cy="356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程式運作流程圖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26" name="內容版面配置區 4" descr=""/>
          <p:cNvPicPr/>
          <p:nvPr/>
        </p:nvPicPr>
        <p:blipFill>
          <a:blip r:embed="rId1"/>
          <a:stretch/>
        </p:blipFill>
        <p:spPr>
          <a:xfrm>
            <a:off x="1250280" y="2490840"/>
            <a:ext cx="6651000" cy="344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程式介紹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3. 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操作說明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啟動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：執行 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.exe 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檔後，畫面顯示 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15x15 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網格。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輸入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：輸入「行 橫」座標（例如 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7 5 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代表第 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7 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行第 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5 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列）。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結果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：達成五連子後，系統自動宣佈贏家並終止程式。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</a:pPr>
            <a:br>
              <a:rPr sz="2400"/>
            </a:b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0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br>
              <a:rPr sz="4000"/>
            </a:br>
            <a:r>
              <a:rPr b="1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程式如何安裝執行</a:t>
            </a:r>
            <a:br>
              <a:rPr sz="4000"/>
            </a:b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三</a:t>
            </a: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. 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程式如何安裝執行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環境準備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：電腦需安裝 </a:t>
            </a: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Visual Studio 2022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 (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含 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C++ 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桌面開發組件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。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匯入原始碼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：將 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Board.h, Board.cpp, GameManager.h, GameManager.cpp, main.cpp 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加入專案。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編譯程式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：點選上方選單 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「建置 </a:t>
            </a: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(B)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」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 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-&gt; 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「建置方案」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。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啟動遊戲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：點選 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「在地 </a:t>
            </a: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Windows </a:t>
            </a:r>
            <a:r>
              <a:rPr b="1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偵錯工具」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 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(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綠色箭頭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。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172520" y="37260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四</a:t>
            </a:r>
            <a:r>
              <a:rPr b="1" lang="en-US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. </a:t>
            </a:r>
            <a:r>
              <a:rPr b="1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程式畫面截圖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32" name="內容版面配置區 4" descr=""/>
          <p:cNvPicPr/>
          <p:nvPr/>
        </p:nvPicPr>
        <p:blipFill>
          <a:blip r:embed="rId1"/>
          <a:stretch/>
        </p:blipFill>
        <p:spPr>
          <a:xfrm>
            <a:off x="1910520" y="2490840"/>
            <a:ext cx="5330520" cy="34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文字方塊 5"/>
          <p:cNvSpPr/>
          <p:nvPr/>
        </p:nvSpPr>
        <p:spPr>
          <a:xfrm>
            <a:off x="1172520" y="1676520"/>
            <a:ext cx="44586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TW" sz="36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遊戲初始畫面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329400" y="5011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四</a:t>
            </a:r>
            <a:r>
              <a:rPr b="1" lang="en-US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. </a:t>
            </a:r>
            <a:r>
              <a:rPr b="1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程式畫面截圖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35" name="內容版面配置區 4" descr=""/>
          <p:cNvPicPr/>
          <p:nvPr/>
        </p:nvPicPr>
        <p:blipFill>
          <a:blip r:embed="rId1"/>
          <a:stretch/>
        </p:blipFill>
        <p:spPr>
          <a:xfrm>
            <a:off x="1987200" y="2490840"/>
            <a:ext cx="5177520" cy="34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文字方塊 6"/>
          <p:cNvSpPr/>
          <p:nvPr/>
        </p:nvSpPr>
        <p:spPr>
          <a:xfrm>
            <a:off x="668520" y="1386360"/>
            <a:ext cx="553536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TW" sz="3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遊戲勝利畫面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TW" sz="4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分工資訊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余士凱：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撰寫程式、做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UML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、報告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汪裕軒：做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PPT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、報告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吳承翰</a:t>
            </a: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:</a:t>
            </a:r>
            <a:r>
              <a:rPr b="0" lang="zh-TW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報告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720000" y="5220000"/>
            <a:ext cx="785592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https://github.com/kenyu430/Gomoku/blob/main/Gomoku_Presentation.pptx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
</Relationships>
</file>

<file path=ppt/theme/theme1.xml><?xml version="1.0" encoding="utf-8"?>
<a:theme xmlns:a="http://schemas.openxmlformats.org/drawingml/2006/main" xmlns:r="http://schemas.openxmlformats.org/officeDocument/2006/relationships" name="有機">
  <a:themeElements>
    <a:clrScheme name="有機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 pitchFamily="0" charset="1"/>
        <a:ea typeface=""/>
        <a:cs typeface=""/>
      </a:majorFont>
      <a:minorFont>
        <a:latin typeface="Garamond" panose="020204040303010108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有機">
  <a:themeElements>
    <a:clrScheme name="有機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 pitchFamily="0" charset="1"/>
        <a:ea typeface=""/>
        <a:cs typeface=""/>
      </a:majorFont>
      <a:minorFont>
        <a:latin typeface="Garamond" panose="020204040303010108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78</TotalTime>
  <Application>LibreOffice/25.2.4.3$Windows_X86_64 LibreOffice_project/33e196637044ead23f5c3226cde09b47731f7e27</Application>
  <AppVersion>15.0000</AppVersion>
  <Words>633</Words>
  <Paragraphs>62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User</dc:creator>
  <dc:description>generated using python-pptx</dc:description>
  <dc:language>zh-TW</dc:language>
  <cp:lastModifiedBy/>
  <dcterms:modified xsi:type="dcterms:W3CDTF">2026-06-11T13:56:09Z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如螢幕大小 (4:3)</vt:lpwstr>
  </property>
  <property fmtid="{D5CDD505-2E9C-101B-9397-08002B2CF9AE}" pid="3" name="Slides">
    <vt:i4>13</vt:i4>
  </property>
</Properties>
</file>